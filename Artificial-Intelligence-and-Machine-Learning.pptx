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Host Grotesk Medium" panose="020B0604020202020204" charset="0"/>
      <p:regular r:id="rId28"/>
    </p:embeddedFont>
    <p:embeddedFont>
      <p:font typeface="Roboto" panose="02000000000000000000" pitchFamily="2" charset="0"/>
      <p:regular r:id="rId29"/>
      <p:bold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7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66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6001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Artificial Intelligence and Machine Learning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02694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6CS012 — Task 2: Scene Classification &amp; Sentiment Analysis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25119" y="3158207"/>
            <a:ext cx="472276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Unik Ghalan · ID: 2409043 · </a:t>
            </a: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Tutor: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Ms. Jinu Nyachhyon · </a:t>
            </a: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Submitted: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10 May 2026</a:t>
            </a:r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B1D7FF-C621-48C8-ACE6-15B3336ABFAD}"/>
              </a:ext>
            </a:extLst>
          </p:cNvPr>
          <p:cNvSpPr/>
          <p:nvPr/>
        </p:nvSpPr>
        <p:spPr>
          <a:xfrm>
            <a:off x="7594600" y="4597400"/>
            <a:ext cx="1549400" cy="495300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276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Agenda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09266"/>
            <a:ext cx="815176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covers two core machine learning tasks — scene classification with CNNs and sentiment analysis with recurrent networks — followed by key findings and conclusions.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09393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315840"/>
            <a:ext cx="4004965" cy="19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424782"/>
            <a:ext cx="23717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Part 2 — Scene Classification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731294"/>
            <a:ext cx="4004965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Convolutional Neural Networks for classifying natural outdoor scenes across six categories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642842" y="209393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842" y="2315840"/>
            <a:ext cx="4005039" cy="190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42842" y="2424782"/>
            <a:ext cx="2295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Part 3 — Sentiment Analysis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642842" y="2731294"/>
            <a:ext cx="4005039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RNN and LSTM architectures applied to IMDb movie review classification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96119" y="340451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612207"/>
            <a:ext cx="4004965" cy="190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6119" y="3735363"/>
            <a:ext cx="22453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Findings &amp; Comparison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96119" y="4041874"/>
            <a:ext cx="4004965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Cross-task performance analysis and notable observations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642842" y="340451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842" y="3612207"/>
            <a:ext cx="4005039" cy="190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42842" y="3735363"/>
            <a:ext cx="20976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 &amp; Future Work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642842" y="4041874"/>
            <a:ext cx="400503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Summary of outcomes and directions for further research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B8865A-5EDA-4701-B482-7FC59F11D81D}"/>
              </a:ext>
            </a:extLst>
          </p:cNvPr>
          <p:cNvSpPr/>
          <p:nvPr/>
        </p:nvSpPr>
        <p:spPr>
          <a:xfrm>
            <a:off x="7594600" y="4616450"/>
            <a:ext cx="1549400" cy="495300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02493"/>
            <a:ext cx="406152" cy="180008"/>
          </a:xfrm>
          <a:prstGeom prst="roundRect">
            <a:avLst>
              <a:gd name="adj" fmla="val 20260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892448" y="335012"/>
            <a:ext cx="275927" cy="1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2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15689"/>
            <a:ext cx="4935736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Research Question: Scene Classification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072976"/>
            <a:ext cx="4775299" cy="27059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72163" y="1813992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Central Question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872163" y="2066553"/>
            <a:ext cx="2449116" cy="71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a Convolutional Neural Network effectively classify natural outdoor scenes into </a:t>
            </a: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 distinct categories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does </a:t>
            </a: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transfer learning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a pre-trained model outperform a CNN trained from scratch?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872163" y="2868439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Target Categories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27336" y="3965897"/>
            <a:ext cx="1809973" cy="396032"/>
          </a:xfrm>
          <a:prstGeom prst="roundRect">
            <a:avLst>
              <a:gd name="adj" fmla="val 1151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0594" y="4079156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Buildings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20355" y="3965897"/>
            <a:ext cx="1810048" cy="396032"/>
          </a:xfrm>
          <a:prstGeom prst="roundRect">
            <a:avLst>
              <a:gd name="adj" fmla="val 1151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33613" y="4079156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Forest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13449" y="3965897"/>
            <a:ext cx="1810048" cy="396032"/>
          </a:xfrm>
          <a:prstGeom prst="roundRect">
            <a:avLst>
              <a:gd name="adj" fmla="val 1151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26707" y="4079156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Glacier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06542" y="3965897"/>
            <a:ext cx="1810048" cy="396032"/>
          </a:xfrm>
          <a:prstGeom prst="roundRect">
            <a:avLst>
              <a:gd name="adj" fmla="val 1151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19801" y="4079156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Mountain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7336" y="4444975"/>
            <a:ext cx="3703067" cy="396032"/>
          </a:xfrm>
          <a:prstGeom prst="roundRect">
            <a:avLst>
              <a:gd name="adj" fmla="val 1151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0594" y="4558233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Sea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13449" y="4444975"/>
            <a:ext cx="3703141" cy="396032"/>
          </a:xfrm>
          <a:prstGeom prst="roundRect">
            <a:avLst>
              <a:gd name="adj" fmla="val 1151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26707" y="4558233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Street</a:t>
            </a:r>
            <a:endParaRPr lang="en-US" sz="10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37A8DA-C543-4D71-88A4-3A7EBC74A9BA}"/>
              </a:ext>
            </a:extLst>
          </p:cNvPr>
          <p:cNvSpPr/>
          <p:nvPr/>
        </p:nvSpPr>
        <p:spPr>
          <a:xfrm>
            <a:off x="7734300" y="4847356"/>
            <a:ext cx="1409700" cy="251693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640" y="434355"/>
            <a:ext cx="1116583" cy="244450"/>
          </a:xfrm>
          <a:prstGeom prst="roundRect">
            <a:avLst>
              <a:gd name="adj" fmla="val 18877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563017" y="475506"/>
            <a:ext cx="951830" cy="162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2 — DATASET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0640" y="732011"/>
            <a:ext cx="5197897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Intel Image Classification Dataset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80640" y="1429271"/>
            <a:ext cx="40082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3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~17K</a:t>
            </a:r>
            <a:endParaRPr lang="en-US" sz="3550" dirty="0"/>
          </a:p>
        </p:txBody>
      </p:sp>
      <p:sp>
        <p:nvSpPr>
          <p:cNvPr id="6" name="Text 4"/>
          <p:cNvSpPr/>
          <p:nvPr/>
        </p:nvSpPr>
        <p:spPr>
          <a:xfrm>
            <a:off x="1626394" y="2050777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Total Images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0640" y="2345085"/>
            <a:ext cx="4008239" cy="20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14,000 training · 3,000 test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55121" y="1429271"/>
            <a:ext cx="40082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3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6</a:t>
            </a:r>
            <a:endParaRPr lang="en-US" sz="3550" dirty="0"/>
          </a:p>
        </p:txBody>
      </p:sp>
      <p:sp>
        <p:nvSpPr>
          <p:cNvPr id="9" name="Text 7"/>
          <p:cNvSpPr/>
          <p:nvPr/>
        </p:nvSpPr>
        <p:spPr>
          <a:xfrm>
            <a:off x="5800874" y="2050777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Scene Classes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55121" y="2345085"/>
            <a:ext cx="4008239" cy="20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Nearly balanced (≤15% variance)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0640" y="2882503"/>
            <a:ext cx="40082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3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150</a:t>
            </a:r>
            <a:endParaRPr lang="en-US" sz="3550" dirty="0"/>
          </a:p>
        </p:txBody>
      </p:sp>
      <p:sp>
        <p:nvSpPr>
          <p:cNvPr id="12" name="Text 10"/>
          <p:cNvSpPr/>
          <p:nvPr/>
        </p:nvSpPr>
        <p:spPr>
          <a:xfrm>
            <a:off x="1626394" y="3504009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Resolution (px)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0640" y="3798317"/>
            <a:ext cx="4008239" cy="20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150×150 RGB input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55121" y="2882503"/>
            <a:ext cx="4008239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3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42</a:t>
            </a:r>
            <a:endParaRPr lang="en-US" sz="3550" dirty="0"/>
          </a:p>
        </p:txBody>
      </p:sp>
      <p:sp>
        <p:nvSpPr>
          <p:cNvPr id="15" name="Text 13"/>
          <p:cNvSpPr/>
          <p:nvPr/>
        </p:nvSpPr>
        <p:spPr>
          <a:xfrm>
            <a:off x="5800874" y="3504009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Corrupted Removed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55121" y="3798317"/>
            <a:ext cx="4008239" cy="20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Cleaned programmatically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640" y="4150742"/>
            <a:ext cx="8182719" cy="558403"/>
          </a:xfrm>
          <a:prstGeom prst="roundRect">
            <a:avLst>
              <a:gd name="adj" fmla="val 10330"/>
            </a:avLst>
          </a:prstGeom>
          <a:solidFill>
            <a:srgbClr val="C6E4EB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34" y="4349800"/>
            <a:ext cx="171599" cy="13729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26827" y="4318025"/>
            <a:ext cx="7599238" cy="20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Challenge: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High visual similarity between </a:t>
            </a:r>
            <a:r>
              <a:rPr lang="en-US" sz="1050" dirty="0">
                <a:solidFill>
                  <a:srgbClr val="C364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Glacier 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↔</a:t>
            </a:r>
            <a:r>
              <a:rPr lang="en-US" sz="1050" dirty="0">
                <a:solidFill>
                  <a:srgbClr val="C364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Mountain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050" dirty="0">
                <a:solidFill>
                  <a:srgbClr val="C364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 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↔</a:t>
            </a:r>
            <a:r>
              <a:rPr lang="en-US" sz="1050" dirty="0">
                <a:solidFill>
                  <a:srgbClr val="C364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Glacier</a:t>
            </a: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pairs increases misclassification risk.</a:t>
            </a:r>
            <a:endParaRPr lang="en-US" sz="10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931BC2-04E4-4E1C-AEC1-48F533BA4998}"/>
              </a:ext>
            </a:extLst>
          </p:cNvPr>
          <p:cNvSpPr/>
          <p:nvPr/>
        </p:nvSpPr>
        <p:spPr>
          <a:xfrm>
            <a:off x="7594600" y="4762500"/>
            <a:ext cx="1549400" cy="330200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52363"/>
            <a:ext cx="1601242" cy="255091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94854"/>
            <a:ext cx="1431131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2 — METHODOLOGY 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64158"/>
            <a:ext cx="53256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CNN Architectures: From Scratch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56150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Baseline CNN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924720"/>
            <a:ext cx="3902943" cy="47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× Conv2D + MaxPool blocks (32 → 64 → 128 filters)</a:t>
            </a:r>
            <a:endParaRPr lang="en-US" sz="11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Dense layers + Softmax output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25412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Deeper CNN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2904455"/>
            <a:ext cx="3902943" cy="73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Conv layers (3 blocks of 2)</a:t>
            </a:r>
            <a:endParaRPr lang="en-US" sz="11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 Normalization + Dropout (0.25)</a:t>
            </a:r>
            <a:endParaRPr lang="en-US" sz="11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Optimizer comparison: </a:t>
            </a: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Adam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vs </a:t>
            </a: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SGD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1561505"/>
            <a:ext cx="22336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Augmentation Pipeline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1924720"/>
            <a:ext cx="390294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to all from-scratch models to improve generalisation and reduce overfitting: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850407"/>
            <a:ext cx="1931566" cy="840730"/>
          </a:xfrm>
          <a:prstGeom prst="roundRect">
            <a:avLst>
              <a:gd name="adj" fmla="val 7082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927" y="4011216"/>
            <a:ext cx="16099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Flip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6927" y="4317727"/>
            <a:ext cx="1609948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Horizontal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9443" y="3850407"/>
            <a:ext cx="1931640" cy="840730"/>
          </a:xfrm>
          <a:prstGeom prst="roundRect">
            <a:avLst>
              <a:gd name="adj" fmla="val 7082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30252" y="4011216"/>
            <a:ext cx="16100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Rotation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730252" y="4317727"/>
            <a:ext cx="16100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±20°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2842" y="3850407"/>
            <a:ext cx="1931640" cy="840730"/>
          </a:xfrm>
          <a:prstGeom prst="roundRect">
            <a:avLst>
              <a:gd name="adj" fmla="val 7082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3651" y="4011216"/>
            <a:ext cx="16100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Zoom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03651" y="4317727"/>
            <a:ext cx="16100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16241" y="3850407"/>
            <a:ext cx="1931640" cy="840730"/>
          </a:xfrm>
          <a:prstGeom prst="roundRect">
            <a:avLst>
              <a:gd name="adj" fmla="val 7082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7050" y="4011216"/>
            <a:ext cx="16100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Shift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77050" y="4317727"/>
            <a:ext cx="16100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10%</a:t>
            </a:r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EC3D8D-D173-4EE1-A02D-6741725E2DD7}"/>
              </a:ext>
            </a:extLst>
          </p:cNvPr>
          <p:cNvSpPr/>
          <p:nvPr/>
        </p:nvSpPr>
        <p:spPr>
          <a:xfrm>
            <a:off x="7594600" y="4691136"/>
            <a:ext cx="1549400" cy="401563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132" y="351681"/>
            <a:ext cx="1398538" cy="213940"/>
          </a:xfrm>
          <a:prstGeom prst="roundRect">
            <a:avLst>
              <a:gd name="adj" fmla="val 19482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508546" y="388888"/>
            <a:ext cx="1249710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2 — METHODOLOGY 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4132" y="609005"/>
            <a:ext cx="362835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VGG16 Transfer Learning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4132" y="1159297"/>
            <a:ext cx="8275737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VGG16 base, pre-trained on ImageNet, provides rich feature representations. A two-stage training strategy balances efficiency with fine-grained adaptation to the scene dataset.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38" y="1630189"/>
            <a:ext cx="7432923" cy="26907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1165" y="3664118"/>
            <a:ext cx="1862024" cy="232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Stage 2: Fine-tune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01165" y="2853103"/>
            <a:ext cx="1862024" cy="232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Custom Head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01165" y="2033812"/>
            <a:ext cx="1862024" cy="232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Stage 1: Freeze Base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34132" y="4442966"/>
            <a:ext cx="8275737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images resized to </a:t>
            </a:r>
            <a:r>
              <a:rPr lang="en-US" sz="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224×224</a:t>
            </a: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match VGG16's expected input dimensions. Stage 1 learns the custom classification head; Stage 2 fine-tunes higher-level features with a reduced learning rate.</a:t>
            </a:r>
            <a:endParaRPr lang="en-US" sz="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E46153-5EFA-40BB-920F-BDEABFDBF71E}"/>
              </a:ext>
            </a:extLst>
          </p:cNvPr>
          <p:cNvSpPr/>
          <p:nvPr/>
        </p:nvSpPr>
        <p:spPr>
          <a:xfrm>
            <a:off x="7594600" y="4743846"/>
            <a:ext cx="1549400" cy="348854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066" y="339254"/>
            <a:ext cx="917897" cy="194221"/>
          </a:xfrm>
          <a:prstGeom prst="roundRect">
            <a:avLst>
              <a:gd name="adj" fmla="val 19927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667122" y="373782"/>
            <a:ext cx="779785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2 — RESULTS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98066" y="570905"/>
            <a:ext cx="5075858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Scene Classification: Results Summary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1176412"/>
            <a:ext cx="3833366" cy="18809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17182" y="1164729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17182" y="1449884"/>
            <a:ext cx="3833366" cy="688851"/>
          </a:xfrm>
          <a:prstGeom prst="roundRect">
            <a:avLst>
              <a:gd name="adj" fmla="val 9956"/>
            </a:avLst>
          </a:prstGeom>
          <a:solidFill>
            <a:srgbClr val="FAF9F5"/>
          </a:solidFill>
          <a:ln w="14288">
            <a:solidFill>
              <a:srgbClr val="BFD3D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894" y="1449884"/>
            <a:ext cx="57150" cy="6888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89450" y="1579290"/>
            <a:ext cx="162416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Baseline CNN — 86.40%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889450" y="1852761"/>
            <a:ext cx="3531691" cy="156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overall performance among trained-from-scratch models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717182" y="2232273"/>
            <a:ext cx="3833366" cy="845418"/>
          </a:xfrm>
          <a:prstGeom prst="roundRect">
            <a:avLst>
              <a:gd name="adj" fmla="val 8112"/>
            </a:avLst>
          </a:prstGeom>
          <a:solidFill>
            <a:srgbClr val="FAF9F5"/>
          </a:solidFill>
          <a:ln w="14288">
            <a:solidFill>
              <a:srgbClr val="BFD3D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894" y="2232273"/>
            <a:ext cx="57150" cy="8454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89450" y="2361679"/>
            <a:ext cx="156440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Deeper CNN — 77.03%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889450" y="2635151"/>
            <a:ext cx="3531691" cy="313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Unstable training with noisy learning curves; Adam optimiser underperformed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717182" y="3171230"/>
            <a:ext cx="3833366" cy="845418"/>
          </a:xfrm>
          <a:prstGeom prst="roundRect">
            <a:avLst>
              <a:gd name="adj" fmla="val 8112"/>
            </a:avLst>
          </a:prstGeom>
          <a:solidFill>
            <a:srgbClr val="FAF9F5"/>
          </a:solidFill>
          <a:ln w="14288">
            <a:solidFill>
              <a:srgbClr val="BFD3D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894" y="3171230"/>
            <a:ext cx="57150" cy="8454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89450" y="3300636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VGG16 Transfer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889450" y="3574107"/>
            <a:ext cx="3531691" cy="313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 to achieve the highest accuracy; results pending final evaluation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717182" y="4121869"/>
            <a:ext cx="3833366" cy="577081"/>
          </a:xfrm>
          <a:prstGeom prst="roundRect">
            <a:avLst>
              <a:gd name="adj" fmla="val 8383"/>
            </a:avLst>
          </a:prstGeom>
          <a:solidFill>
            <a:srgbClr val="FCF2B5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2300" y="4279255"/>
            <a:ext cx="143917" cy="11511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91336" y="4244132"/>
            <a:ext cx="3344094" cy="313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Confusion:</a:t>
            </a: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Glacier ↔ Mountain and Street ↔ Buildings remain the most challenging class boundaries.</a:t>
            </a:r>
            <a:endParaRPr lang="en-US" sz="9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2FC127-9DAF-4C8D-A352-E9C6B334C466}"/>
              </a:ext>
            </a:extLst>
          </p:cNvPr>
          <p:cNvSpPr/>
          <p:nvPr/>
        </p:nvSpPr>
        <p:spPr>
          <a:xfrm>
            <a:off x="7594600" y="4804170"/>
            <a:ext cx="1549400" cy="288529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489" y="356071"/>
            <a:ext cx="422746" cy="189533"/>
          </a:xfrm>
          <a:prstGeom prst="roundRect">
            <a:avLst>
              <a:gd name="adj" fmla="val 20027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742206" y="389930"/>
            <a:ext cx="287313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74489" y="581546"/>
            <a:ext cx="475171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Sentiment Analysis on IMDb Reviews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1170682"/>
            <a:ext cx="4970190" cy="28164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25071" y="200806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Task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25071" y="2274540"/>
            <a:ext cx="2549054" cy="608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Binary sentiment classification — </a:t>
            </a: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Positive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vs </a:t>
            </a: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Negative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using recurrent neural network architectures on the IMDb Large Movie Review Dataset.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25071" y="2973214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Models Compared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4489" y="4189512"/>
            <a:ext cx="254124" cy="254124"/>
          </a:xfrm>
          <a:prstGeom prst="roundRect">
            <a:avLst>
              <a:gd name="adj" fmla="val 1867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6793" y="421064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18580" y="4228281"/>
            <a:ext cx="2179216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SimpleRNN + Trainable Embedding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18580" y="4635252"/>
            <a:ext cx="2179216" cy="15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recurrent model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10310" y="4189512"/>
            <a:ext cx="254124" cy="254124"/>
          </a:xfrm>
          <a:prstGeom prst="roundRect">
            <a:avLst>
              <a:gd name="adj" fmla="val 1867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52614" y="421064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54400" y="4228281"/>
            <a:ext cx="188007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LSTM + Trainable Embedding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4400" y="4458742"/>
            <a:ext cx="2179216" cy="15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 Short-Term Memory network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46130" y="4189512"/>
            <a:ext cx="254124" cy="254124"/>
          </a:xfrm>
          <a:prstGeom prst="roundRect">
            <a:avLst>
              <a:gd name="adj" fmla="val 1867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8434" y="421064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90221" y="4228281"/>
            <a:ext cx="167580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LSTM + Pre-trained GloVe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90221" y="4458742"/>
            <a:ext cx="2179216" cy="15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Transfer learning with word embeddings</a:t>
            </a:r>
            <a:endParaRPr lang="en-US" sz="8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ADE9EB-BD2D-43D4-8ECA-6C17E7D70D62}"/>
              </a:ext>
            </a:extLst>
          </p:cNvPr>
          <p:cNvSpPr/>
          <p:nvPr/>
        </p:nvSpPr>
        <p:spPr>
          <a:xfrm>
            <a:off x="7594600" y="4787428"/>
            <a:ext cx="1549400" cy="305271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871" y="373038"/>
            <a:ext cx="1026542" cy="218926"/>
          </a:xfrm>
          <a:prstGeom prst="roundRect">
            <a:avLst>
              <a:gd name="adj" fmla="val 19378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517624" y="410914"/>
            <a:ext cx="875035" cy="143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3 — DATASET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1871" y="636910"/>
            <a:ext cx="4928295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IMDb Large Movie Review Dataset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41871" y="1263179"/>
            <a:ext cx="4059882" cy="416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50"/>
              </a:lnSpc>
              <a:buNone/>
            </a:pPr>
            <a:r>
              <a:rPr lang="en-US" sz="3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50K</a:t>
            </a:r>
            <a:endParaRPr lang="en-US" sz="3250" dirty="0"/>
          </a:p>
        </p:txBody>
      </p:sp>
      <p:sp>
        <p:nvSpPr>
          <p:cNvPr id="6" name="Text 4"/>
          <p:cNvSpPr/>
          <p:nvPr/>
        </p:nvSpPr>
        <p:spPr>
          <a:xfrm>
            <a:off x="1682651" y="1827237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Total Reviews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1871" y="2091928"/>
            <a:ext cx="4059882" cy="17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25K Positive · 25K Negative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42247" y="1263179"/>
            <a:ext cx="4059882" cy="416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50"/>
              </a:lnSpc>
              <a:buNone/>
            </a:pPr>
            <a:r>
              <a:rPr lang="en-US" sz="3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35K</a:t>
            </a:r>
            <a:endParaRPr lang="en-US" sz="3250" dirty="0"/>
          </a:p>
        </p:txBody>
      </p:sp>
      <p:sp>
        <p:nvSpPr>
          <p:cNvPr id="9" name="Text 7"/>
          <p:cNvSpPr/>
          <p:nvPr/>
        </p:nvSpPr>
        <p:spPr>
          <a:xfrm>
            <a:off x="5883027" y="1827237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Training Set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42247" y="2091928"/>
            <a:ext cx="4059882" cy="17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5K validation · 10K test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1871" y="2558951"/>
            <a:ext cx="4059882" cy="416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50"/>
              </a:lnSpc>
              <a:buNone/>
            </a:pPr>
            <a:r>
              <a:rPr lang="en-US" sz="3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280</a:t>
            </a:r>
            <a:endParaRPr lang="en-US" sz="3250" dirty="0"/>
          </a:p>
        </p:txBody>
      </p:sp>
      <p:sp>
        <p:nvSpPr>
          <p:cNvPr id="12" name="Text 10"/>
          <p:cNvSpPr/>
          <p:nvPr/>
        </p:nvSpPr>
        <p:spPr>
          <a:xfrm>
            <a:off x="1660550" y="3123009"/>
            <a:ext cx="162245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Max Sequence Length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1871" y="3387700"/>
            <a:ext cx="4059882" cy="17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Reviews padded to uniform length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42247" y="2558951"/>
            <a:ext cx="4059882" cy="416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50"/>
              </a:lnSpc>
              <a:buNone/>
            </a:pPr>
            <a:r>
              <a:rPr lang="en-US" sz="3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20K</a:t>
            </a:r>
            <a:endParaRPr lang="en-US" sz="3250" dirty="0"/>
          </a:p>
        </p:txBody>
      </p:sp>
      <p:sp>
        <p:nvSpPr>
          <p:cNvPr id="15" name="Text 13"/>
          <p:cNvSpPr/>
          <p:nvPr/>
        </p:nvSpPr>
        <p:spPr>
          <a:xfrm>
            <a:off x="5883027" y="3123009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Vocabulary Size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42247" y="3387700"/>
            <a:ext cx="4059882" cy="17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20,000 most frequent tokens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1871" y="3805684"/>
            <a:ext cx="161768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Preprocessing Pipeline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1871" y="4115395"/>
            <a:ext cx="3976092" cy="615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cleaned and tokenised</a:t>
            </a:r>
            <a:endParaRPr lang="en-US" sz="95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Padded to </a:t>
            </a:r>
            <a:r>
              <a:rPr lang="en-US" sz="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MAX_LEN = 280</a:t>
            </a: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words</a:t>
            </a:r>
            <a:endParaRPr lang="en-US" sz="95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Perfectly balanced class distribution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30800" y="3805684"/>
            <a:ext cx="159372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Embedding Strategies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30800" y="4115395"/>
            <a:ext cx="3976092" cy="397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Trainable:</a:t>
            </a: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Learned from scratch during training</a:t>
            </a:r>
            <a:endParaRPr lang="en-US" sz="95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GloVe:</a:t>
            </a: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Pre-trained 100d vectors on Common Crawl</a:t>
            </a:r>
            <a:endParaRPr lang="en-US" sz="9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8519AE-DB41-4F04-870F-BFEDDDF9DB34}"/>
              </a:ext>
            </a:extLst>
          </p:cNvPr>
          <p:cNvSpPr/>
          <p:nvPr/>
        </p:nvSpPr>
        <p:spPr>
          <a:xfrm>
            <a:off x="7594600" y="4706540"/>
            <a:ext cx="1549400" cy="386160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10480"/>
            <a:ext cx="419710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 &amp; Future Work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166068"/>
            <a:ext cx="2290465" cy="2087761"/>
          </a:xfrm>
          <a:prstGeom prst="roundRect">
            <a:avLst>
              <a:gd name="adj" fmla="val 285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3125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Scene Classification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1619101"/>
            <a:ext cx="1997422" cy="1488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baseline CNN achieved </a:t>
            </a: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86.40%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test accuracy. Transfer learning with VGG16 is expected to surpass this, confirming the value of pre-trained features for visual tasks.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166068"/>
            <a:ext cx="2290539" cy="2087761"/>
          </a:xfrm>
          <a:prstGeom prst="roundRect">
            <a:avLst>
              <a:gd name="adj" fmla="val 285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3125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Sentiment Analysis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1619101"/>
            <a:ext cx="1997497" cy="1488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LSTM with GloVe embeddings is anticipated to outperform SimpleRNN, demonstrating the benefit of long-range dependency modelling and pre-trained semantic representations.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395588"/>
            <a:ext cx="4722763" cy="1237357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5421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Directions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848621"/>
            <a:ext cx="4429720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ResNet/EfficientNet backbones, attention mechanisms (Transformers), and ensemble methods to further improve generalisation across both tasks.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108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653927"/>
            <a:ext cx="888653" cy="255091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696417"/>
            <a:ext cx="718542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3 — NLP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96572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Methodology: Text Preprocessing Pipeline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3064297"/>
            <a:ext cx="472276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four-stage pipeline transforms raw review text into model-ready sequences, preserving semantic meaning while reducing noise.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F06B2E-E0A4-4BDB-B8A4-6DCF683713BA}"/>
              </a:ext>
            </a:extLst>
          </p:cNvPr>
          <p:cNvSpPr/>
          <p:nvPr/>
        </p:nvSpPr>
        <p:spPr>
          <a:xfrm>
            <a:off x="7823200" y="4635500"/>
            <a:ext cx="1263650" cy="425202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AF9F5"/>
                </a:solidFill>
              </a:ln>
              <a:solidFill>
                <a:srgbClr val="FAF9F5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159"/>
            <a:ext cx="409039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Text Preprocessing Steps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66664"/>
            <a:ext cx="4075881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187545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HTML Removal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7877" y="2181969"/>
            <a:ext cx="379236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Strip tags and markup from scraped review text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66664"/>
            <a:ext cx="4075881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13759" y="187545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Normalize Text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713759" y="2181969"/>
            <a:ext cx="3792364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Lowercase all characters and expand contractions (e.g., "don't" → "do not")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748930"/>
            <a:ext cx="4075881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7877" y="3457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Stopword Removal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37877" y="3764235"/>
            <a:ext cx="3792364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 common words while </a:t>
            </a: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preserving negations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critical for sentiment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748930"/>
            <a:ext cx="4075881" cy="5670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13759" y="3457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Lemmatization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713759" y="3764235"/>
            <a:ext cx="3792364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words to base dictionary form for vocabulary consistency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96119" y="4471615"/>
            <a:ext cx="815176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Tokenization: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Keras Tokenizer with a </a:t>
            </a: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20,000-word vocabulary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using post-padding to standardize input lengths across batches.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363199-8F09-437A-8820-F6E0A0C23E3A}"/>
              </a:ext>
            </a:extLst>
          </p:cNvPr>
          <p:cNvSpPr/>
          <p:nvPr/>
        </p:nvSpPr>
        <p:spPr>
          <a:xfrm>
            <a:off x="7823200" y="4703266"/>
            <a:ext cx="1263650" cy="425202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AF9F5"/>
                </a:solidFill>
              </a:ln>
              <a:solidFill>
                <a:srgbClr val="FAF9F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653927"/>
            <a:ext cx="1549747" cy="255091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696417"/>
            <a:ext cx="1379637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3 — ARCHITECTURES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96572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Three Model Architectures Compared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3064297"/>
            <a:ext cx="472276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architecture builds on the last, progressively improving sentiment capture through better memory mechanisms and richer embeddings.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99901"/>
            <a:ext cx="33226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Model 1: SimpleRNN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2" y="1392287"/>
            <a:ext cx="5225430" cy="29610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9502" y="112662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19502" y="1458888"/>
            <a:ext cx="2664023" cy="666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 layer (100 dimensions)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SimpleRNN (64 units)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Dense output layers with sigmoid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19502" y="224998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19502" y="2582242"/>
            <a:ext cx="2664023" cy="772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Vanishing gradients prevent the model from learning long-range dependencies, capping accuracy near </a:t>
            </a: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~50%</a:t>
            </a: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barely better than random.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19502" y="3494782"/>
            <a:ext cx="2664023" cy="1108695"/>
          </a:xfrm>
          <a:prstGeom prst="roundRect">
            <a:avLst>
              <a:gd name="adj" fmla="val 5035"/>
            </a:avLst>
          </a:prstGeom>
          <a:solidFill>
            <a:srgbClr val="FCF2B5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406" y="3682678"/>
            <a:ext cx="166092" cy="1329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51402" y="3652540"/>
            <a:ext cx="2099221" cy="772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SimpleRNNs struggle to retain context over long sequences, making them ill-suited for full review analysis.</a:t>
            </a:r>
            <a:endParaRPr lang="en-US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9ED6B9-5D7C-4CCA-99A9-7857E149A5E2}"/>
              </a:ext>
            </a:extLst>
          </p:cNvPr>
          <p:cNvSpPr/>
          <p:nvPr/>
        </p:nvSpPr>
        <p:spPr>
          <a:xfrm>
            <a:off x="7823200" y="4743598"/>
            <a:ext cx="1263650" cy="317103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AF9F5"/>
                </a:solidFill>
              </a:ln>
              <a:solidFill>
                <a:srgbClr val="FAF9F5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99901"/>
            <a:ext cx="33226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Model 2: LSTM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162" y="112662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65162" y="1458888"/>
            <a:ext cx="2664023" cy="666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 layer (100 dimensions)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LSTM layer with gated memory cells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Dense layers + Dropout regularization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5162" y="2249984"/>
            <a:ext cx="231747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Improvement Over SimpleRNN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5162" y="2582242"/>
            <a:ext cx="2664023" cy="9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LSTM's forget, input, and output gates selectively retain or discard information, enabling meaningful learning of longer sequences and improved sentiment detection.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5162" y="3687887"/>
            <a:ext cx="2664023" cy="915591"/>
          </a:xfrm>
          <a:prstGeom prst="roundRect">
            <a:avLst>
              <a:gd name="adj" fmla="val 6097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3875782"/>
            <a:ext cx="166092" cy="132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7062" y="3845644"/>
            <a:ext cx="2099221" cy="579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Gated architecture directly addresses the vanishing gradient problem inherent to SimpleRNNs.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8096" y="1392287"/>
            <a:ext cx="5225430" cy="29610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D02D041-2C6E-4A09-9A44-67DAFE8A1177}"/>
              </a:ext>
            </a:extLst>
          </p:cNvPr>
          <p:cNvSpPr/>
          <p:nvPr/>
        </p:nvSpPr>
        <p:spPr>
          <a:xfrm>
            <a:off x="7823200" y="4635500"/>
            <a:ext cx="1263650" cy="425202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AF9F5"/>
                </a:solidFill>
              </a:ln>
              <a:solidFill>
                <a:srgbClr val="FAF9F5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17379" y="418728"/>
            <a:ext cx="1550938" cy="249734"/>
          </a:xfrm>
          <a:prstGeom prst="roundRect">
            <a:avLst>
              <a:gd name="adj" fmla="val 18776"/>
            </a:avLst>
          </a:prstGeom>
          <a:solidFill>
            <a:srgbClr val="D9EDF2"/>
          </a:solidFill>
          <a:ln/>
        </p:spPr>
      </p:sp>
      <p:sp>
        <p:nvSpPr>
          <p:cNvPr id="4" name="Text 1"/>
          <p:cNvSpPr/>
          <p:nvPr/>
        </p:nvSpPr>
        <p:spPr>
          <a:xfrm>
            <a:off x="4001095" y="460549"/>
            <a:ext cx="138350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PERFORMING MODEL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17379" y="723379"/>
            <a:ext cx="4738241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Model 3: LSTM + Pre-trained GloVe Embeddings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3917379" y="1801564"/>
            <a:ext cx="4738241" cy="62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Replacing trainable embeddings with </a:t>
            </a:r>
            <a:r>
              <a:rPr lang="en-US" sz="10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Twitter-specific GloVe vectors</a:t>
            </a: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injects rich semantic knowledge learned from millions of real-world tweets — dramatically boosting sentiment discrimination.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917379" y="2578894"/>
            <a:ext cx="2300436" cy="1211833"/>
          </a:xfrm>
          <a:prstGeom prst="roundRect">
            <a:avLst>
              <a:gd name="adj" fmla="val 4837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1668" y="2723183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Transfer Learning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61668" y="3023592"/>
            <a:ext cx="2011859" cy="62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Pre-trained on Twitter corpus, capturing informal language patterns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355184" y="2578894"/>
            <a:ext cx="2300436" cy="1211833"/>
          </a:xfrm>
          <a:prstGeom prst="roundRect">
            <a:avLst>
              <a:gd name="adj" fmla="val 4837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9473" y="2723183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Semantic Richness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99473" y="3023592"/>
            <a:ext cx="2011859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 vectors encode meaning, not just co-occurrence statistics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17379" y="3928095"/>
            <a:ext cx="4738241" cy="796603"/>
          </a:xfrm>
          <a:prstGeom prst="roundRect">
            <a:avLst>
              <a:gd name="adj" fmla="val 7358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61668" y="4072384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Best Accuracy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61668" y="4372794"/>
            <a:ext cx="4449663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Outperformed both SimpleRNN and trainable LSTM significantly</a:t>
            </a:r>
            <a:endParaRPr lang="en-US" sz="10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24732F-0D86-44A2-AC21-EC1DF0DA9D66}"/>
              </a:ext>
            </a:extLst>
          </p:cNvPr>
          <p:cNvSpPr/>
          <p:nvPr/>
        </p:nvSpPr>
        <p:spPr>
          <a:xfrm>
            <a:off x="7823200" y="4807074"/>
            <a:ext cx="1263650" cy="253627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AF9F5"/>
                </a:solidFill>
              </a:ln>
              <a:solidFill>
                <a:srgbClr val="FAF9F5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502027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Training Configuration &amp; Regularization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2360116"/>
            <a:ext cx="164090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Shared Across All Models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74489" y="2626593"/>
            <a:ext cx="3759622" cy="703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Optimizer: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Adam — adaptive learning rate for faster convergence</a:t>
            </a:r>
            <a:endParaRPr lang="en-US" sz="8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Regularization: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Dropout layers to prevent overfitting on small datasets</a:t>
            </a:r>
            <a:endParaRPr lang="en-US" sz="8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Stopping: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Halts training when validation loss plateaus</a:t>
            </a:r>
            <a:endParaRPr lang="en-US" sz="8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Loss: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Binary cross-entropy for sentiment classification</a:t>
            </a: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A21892-0E74-4960-BD46-01E7878DE134}"/>
              </a:ext>
            </a:extLst>
          </p:cNvPr>
          <p:cNvSpPr/>
          <p:nvPr/>
        </p:nvSpPr>
        <p:spPr>
          <a:xfrm>
            <a:off x="7823200" y="4635500"/>
            <a:ext cx="1263650" cy="425202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AF9F5"/>
                </a:solidFill>
              </a:ln>
              <a:solidFill>
                <a:srgbClr val="FAF9F5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96776"/>
            <a:ext cx="33226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Results Summary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2" y="1139056"/>
            <a:ext cx="3944764" cy="2167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8836" y="112350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738836" y="1455762"/>
            <a:ext cx="3944764" cy="124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SimpleRNN (~50%):</a:t>
            </a: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Gradient vanishing limits learning to near-random performance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LSTM (trainable):</a:t>
            </a: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Noticeable improvement, but limited by small training data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LSTM + GloVe:</a:t>
            </a: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Best overall — pre-trained embeddings provide a strong semantic foundation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738836" y="2841724"/>
            <a:ext cx="3944764" cy="722486"/>
          </a:xfrm>
          <a:prstGeom prst="roundRect">
            <a:avLst>
              <a:gd name="adj" fmla="val 7726"/>
            </a:avLst>
          </a:prstGeom>
          <a:solidFill>
            <a:srgbClr val="C6E4E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740" y="3029620"/>
            <a:ext cx="166092" cy="1329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70736" y="2999482"/>
            <a:ext cx="3379961" cy="386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values are illustrative approximations based on the qualitative comparisons in the input.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738836" y="3704332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Persistent Challenges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738836" y="4036591"/>
            <a:ext cx="3944764" cy="666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 sequences exceeding effective memory window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Sarcasm and irony in informal reviews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Domain-specific film terminology</a:t>
            </a:r>
            <a:endParaRPr lang="en-US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E87415-06CC-4A9D-B788-175CF91039A0}"/>
              </a:ext>
            </a:extLst>
          </p:cNvPr>
          <p:cNvSpPr/>
          <p:nvPr/>
        </p:nvSpPr>
        <p:spPr>
          <a:xfrm>
            <a:off x="7823200" y="4635500"/>
            <a:ext cx="1263650" cy="425202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AF9F5"/>
                </a:solidFill>
              </a:ln>
              <a:solidFill>
                <a:srgbClr val="FAF9F5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22548"/>
            <a:ext cx="1569616" cy="255091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65038"/>
            <a:ext cx="1399505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CROSS-PART COMPARISON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34343"/>
            <a:ext cx="501171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Part 2 (Vision) vs. Part 3 (NLP)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589931"/>
            <a:ext cx="8151763" cy="1970708"/>
          </a:xfrm>
          <a:prstGeom prst="roundRect">
            <a:avLst>
              <a:gd name="adj" fmla="val 302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0881" y="1594693"/>
            <a:ext cx="8142238" cy="3922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2789" y="1684511"/>
            <a:ext cx="17496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Aspect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80692" y="1684511"/>
            <a:ext cx="272429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2 — Vision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93271" y="1684511"/>
            <a:ext cx="280808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3 — NLP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0881" y="1986930"/>
            <a:ext cx="8142238" cy="3922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2789" y="2076748"/>
            <a:ext cx="17496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80692" y="2076748"/>
            <a:ext cx="272429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CNN / VGG16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93271" y="2076748"/>
            <a:ext cx="280808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LSTM + GloVe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0881" y="2379166"/>
            <a:ext cx="8142238" cy="3922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2789" y="2468984"/>
            <a:ext cx="17496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Transfer Learning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80692" y="2468984"/>
            <a:ext cx="272429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benefit from ImageNet weights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93271" y="2468984"/>
            <a:ext cx="280808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benefit from GloVe embeddings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0881" y="2771403"/>
            <a:ext cx="8142238" cy="3922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2789" y="2861221"/>
            <a:ext cx="17496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Difficulty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80692" y="2861221"/>
            <a:ext cx="272429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Inter-class visual similarity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93271" y="2861221"/>
            <a:ext cx="280808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Long-range dependencies &amp; sarcasm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0881" y="3163639"/>
            <a:ext cx="8142238" cy="3922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2789" y="3253457"/>
            <a:ext cx="174962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Regularization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80692" y="3253457"/>
            <a:ext cx="272429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— dropout &amp; augmentation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93271" y="3253457"/>
            <a:ext cx="280808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— dropout &amp; early stopping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6119" y="3720108"/>
            <a:ext cx="8151763" cy="800770"/>
          </a:xfrm>
          <a:prstGeom prst="roundRect">
            <a:avLst>
              <a:gd name="adj" fmla="val 7436"/>
            </a:avLst>
          </a:prstGeom>
          <a:solidFill>
            <a:srgbClr val="B6FCB8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925639"/>
            <a:ext cx="177180" cy="141759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56816" y="3897288"/>
            <a:ext cx="7549307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Lesson: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Pre-trained models and proper regularization significantly boost performance across both vision and NLP domains.</a:t>
            </a:r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31F5CD-BA59-49FA-87C3-16D190E7EF50}"/>
              </a:ext>
            </a:extLst>
          </p:cNvPr>
          <p:cNvSpPr/>
          <p:nvPr/>
        </p:nvSpPr>
        <p:spPr>
          <a:xfrm>
            <a:off x="7823200" y="4635500"/>
            <a:ext cx="1263650" cy="425202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AF9F5"/>
                </a:solidFill>
              </a:ln>
              <a:solidFill>
                <a:srgbClr val="FAF9F5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3822"/>
            <a:ext cx="494191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 &amp; Future Directions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31169"/>
            <a:ext cx="19585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What We Accomplished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94384"/>
            <a:ext cx="3902943" cy="1849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Implemented </a:t>
            </a: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CNNs from scratch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VGG16 transfer learning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scene classification</a:t>
            </a:r>
            <a:endParaRPr lang="en-US" sz="11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and compared </a:t>
            </a: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SimpleRNN vs. LSTM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architectures for sentiment analysis</a:t>
            </a:r>
            <a:endParaRPr lang="en-US" sz="11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Demonstrated </a:t>
            </a: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transfer learning's power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both vision and NLP</a:t>
            </a:r>
            <a:endParaRPr lang="en-US" sz="11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Gained hands-on experience with the full DL pipeline and best practices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589410"/>
            <a:ext cx="4107135" cy="2620194"/>
          </a:xfrm>
          <a:prstGeom prst="roundRect">
            <a:avLst>
              <a:gd name="adj" fmla="val 3896"/>
            </a:avLst>
          </a:prstGeom>
          <a:solidFill>
            <a:srgbClr val="95CCDA"/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17311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Work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89363" y="2094384"/>
            <a:ext cx="3823618" cy="116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Vision: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Experiment with ResNet / EfficientNet architectures</a:t>
            </a:r>
            <a:endParaRPr lang="en-US" sz="11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NLP: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Replace LSTM with BERT or Transformer models</a:t>
            </a:r>
            <a:endParaRPr lang="en-US" sz="11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Deployment: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Ship both models as interactive web apps via Gradio or Streamlit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89363" y="3451399"/>
            <a:ext cx="3823618" cy="10567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89363" y="3656856"/>
            <a:ext cx="3823618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Unik Ghalan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2409043</a:t>
            </a:r>
            <a:endParaRPr lang="en-US" sz="11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&amp; Machine Learning · 6CS012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3D8D64-86DD-49C9-AFBA-B6CF742B63C6}"/>
              </a:ext>
            </a:extLst>
          </p:cNvPr>
          <p:cNvSpPr/>
          <p:nvPr/>
        </p:nvSpPr>
        <p:spPr>
          <a:xfrm>
            <a:off x="7823200" y="4635500"/>
            <a:ext cx="1263650" cy="425202"/>
          </a:xfrm>
          <a:prstGeom prst="rect">
            <a:avLst/>
          </a:pr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AF9F5"/>
                </a:solidFill>
              </a:ln>
              <a:solidFill>
                <a:srgbClr val="FAF9F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1299</Words>
  <Application>Microsoft Office PowerPoint</Application>
  <PresentationFormat>On-screen Show (16:9)</PresentationFormat>
  <Paragraphs>228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Host Grotesk Light</vt:lpstr>
      <vt:lpstr>Roboto</vt:lpstr>
      <vt:lpstr>Host Grotesk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unicq lama</dc:creator>
  <cp:lastModifiedBy>unicq lama</cp:lastModifiedBy>
  <cp:revision>2</cp:revision>
  <dcterms:created xsi:type="dcterms:W3CDTF">2026-05-11T16:40:57Z</dcterms:created>
  <dcterms:modified xsi:type="dcterms:W3CDTF">2026-05-11T16:52:53Z</dcterms:modified>
</cp:coreProperties>
</file>