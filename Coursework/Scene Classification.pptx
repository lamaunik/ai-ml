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Inter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1:13:21.2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310 188 24575,'1429'0'0,"-1215"-15"0,-107 4 0,-45 4 0,0-3 0,0-3 0,90-30 0,-106 31 0,-1 2 0,89-9 0,-45 9 0,169-15 0,-162 16 0,184 6 0,-141 5 0,29-3 0,177 3 0,-292 2 0,-1 3 0,1 2 0,-2 2 0,53 19 0,-71-20 0,-8-3 0,0 2 0,32 15 0,20 10 0,8 3 0,-76-32 0,0 1 0,-1-1 0,1 2 0,-1-1 0,-1 1 0,1 0 0,6 8 0,11 13 0,-21-24 0,0 0 0,0 0 0,0 0 0,0 1 0,-1-1 0,1 1 0,-1 0 0,0 0 0,-1 1 0,1-1 0,-1 0 0,0 1 0,2 10 0,-2-3 0,-1-1 0,0 1 0,-1-1 0,0 1 0,-1-1 0,0 1 0,-1-1 0,-6 22 0,7-30 0,-1 1 0,0-1 0,0 0 0,0 0 0,-1 0 0,1 0 0,-1 0 0,0 0 0,0-1 0,0 1 0,-1-1 0,1 0 0,-1 0 0,0 0 0,0 0 0,0-1 0,0 0 0,0 1 0,0-2 0,-1 1 0,1 0 0,0-1 0,-1 0 0,0 0 0,1 0 0,-6 0 0,-42 0 0,41-2 0,1 1 0,0 0 0,-1 1 0,1 0 0,0 0 0,0 1 0,0 1 0,-11 3 0,-23 11 0,-2-2 0,1-1 0,-1-3 0,-71 8 0,-291 54 0,331-60 0,-106 3 0,71-8 0,-450 4 0,344-15 0,-43 5 0,-283-4 0,200-24 0,-87-1 0,-149 28 0,545-3 0,0-2 0,0-1 0,-39-12 0,-17-2 0,67 15 0,-6 0 0,1-2 0,-45-14 0,72 19 0,-1 0 0,0 0 0,0 0 0,0 0 0,1-1 0,-1 1 0,1-1 0,-1 0 0,1 0 0,0 0 0,0 0 0,-1 0 0,1-1 0,1 1 0,-1-1 0,0 1 0,1-1 0,-1 0 0,1 1 0,0-1 0,0 0 0,0 0 0,0 0 0,0 0 0,1 0 0,-1-3 0,1 2 0,1 1 0,-1 0 0,1-1 0,-1 1 0,1 0 0,0-1 0,1 1 0,-1 0 0,0 0 0,1 0 0,0 0 0,0 0 0,0 0 0,0 0 0,0 1 0,0-1 0,1 1 0,-1-1 0,1 1 0,0 0 0,-1 0 0,7-3 0,13-6 0,1 0 0,1 1 0,-1 2 0,1 0 0,1 1 0,46-5 0,152 0 0,-149 12 0,83-12 0,454-104 0,-562 105 0,0 3 0,1 1 0,0 3 0,68 2 0,-47 4 0,201-4 0,-55-21 0,-23 10 0,105-4 0,-128 4 0,-16 1 0,-117 9 0,42-8 0,37-2 0,-84 11 0,54-12 0,-24 3 0,0 1 0,-25 3 0,73-3 0,-82 8 0,51-8 0,12-3 0,-62 12 0,3-2 0,1 2 0,0 1 0,0 1 0,-1 2 0,39 9 0,-63-10 0,0 1 0,-1 0 0,1 1 0,-1 0 0,0 0 0,0 1 0,0 0 0,-1 0 0,9 8 0,-14-10 0,1-1 0,-1 1 0,0-1 0,0 1 0,0 0 0,0 0 0,0 0 0,-1 0 0,1 0 0,-1 1 0,0-1 0,0 0 0,0 1 0,0-1 0,-1 0 0,1 1 0,-1-1 0,0 1 0,0-1 0,0 1 0,-1-1 0,1 1 0,-1-1 0,0 0 0,0 1 0,0-1 0,-2 4 0,2-5 0,0 1 0,-1-1 0,0 0 0,1 1 0,-1-1 0,0 0 0,0 0 0,0 0 0,-1 0 0,1-1 0,0 1 0,-1-1 0,1 1 0,-1-1 0,1 0 0,-1 0 0,0 0 0,1 0 0,-1 0 0,0-1 0,-4 1 0,-8 1 0,0-1 0,-29-1 0,27-1 0,-46 0 0,6-2 0,0 3 0,-73 10 0,33 0 0,-190-5 0,39-3 0,208 2 0,0 3 0,-60 16 0,-10 3 0,-338 48 0,191-45 0,42-6 0,52 5 0,58-9 0,-1-3 0,-112 0 0,200-15 0,0 0 0,1 1 0,-1 1 0,-31 10 0,71-9 0,17-1 0,-1-1 0,0 2 0,-1 1 0,1 3 0,41 13 0,-40-10 0,1-1 0,1-3 0,52 5 0,97 0 0,49 2 0,1519-15 0,-1757 1 0,39 3 0,-38-3 0,-1 0 0,0 0 0,0 1 0,1-1 0,-1 0 0,0 1 0,0-1 0,0 0 0,0 1 0,0 0 0,0-1 0,1 1 0,-1 0 0,-1-1 0,1 1 0,0 0 0,0 0 0,0 0 0,0 0 0,0 0 0,-1 0 0,1 0 0,-1 0 0,1 0 0,0 0 0,-1 0 0,0 0 0,1 0 0,-1 2 0,0-2 0,0 0 0,0 0 0,0 0 0,-1 0 0,1-1 0,-1 1 0,1 0 0,0 0 0,-1 0 0,1 0 0,-1-1 0,0 1 0,1 0 0,-1 0 0,0-1 0,1 1 0,-1-1 0,0 1 0,0 0 0,1-1 0,-1 1 0,0-1 0,0 0 0,0 1 0,0-1 0,0 0 0,-1 1 0,-32 6 0,25-6 0,-40 9 0,0-3 0,-74 3 0,-540-12 0,728 2 0,9-1 0,117 13 0,41 26 0,-49-16 0,-137-12 0,69 24 0,-100-29 0,1-2 0,0 0 0,20 1 0,-26-4 0,-1 1 0,1 0 0,-1 0 0,1 1 0,-1 0 0,0 1 0,0 0 0,0 0 0,0 1 0,0 0 0,-1 1 0,9 6 0,-13-8 0,-1 0 0,1 0 0,0 0 0,0-1 0,0 1 0,0-1 0,0 0 0,6 2 0,-7-3 0,0-1 0,0 0 0,0 0 0,0 0 0,0 0 0,0 0 0,0-1 0,0 1 0,0-1 0,0 0 0,0 0 0,0 0 0,5-3 0,8-2 0,0 0 0,1 1 0,-1 1 0,1 1 0,0 0 0,20-1 0,108 5 0,-68 1 0,-21-2-1365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1:13:35.44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273 266 24575,'29'-12'0,"-1"1"0,1 1 0,59-11 0,-15 5 0,153-35-176,418-38-1,238 44-244,-758 41 411,608-2 701,-532 6-598,-148 3-93,69 12 0,-46-5 0,437 15 0,-498-24 0,1 0 0,-1 2 0,0 0 0,0 0 0,0 1 0,0 1 0,-1 0 0,0 1 0,0 1 0,14 9 0,-8-7 0,1 0 0,23 7 0,-29-11 0,1 0 0,-1 1 0,1 1 0,-2 0 0,26 18 0,-19-8 0,28 33 0,9 8 0,-48-50 0,0 1 0,0 0 0,-1 1 0,0 0 0,10 17 0,-16-25 0,-1 1 0,0 0 0,0-1 0,0 1 0,0 0 0,0 0 0,0 0 0,-1 0 0,1 0 0,-1 0 0,0 0 0,0 0 0,0 3 0,-1-4 0,1 0 0,-1-1 0,0 1 0,0 0 0,0 0 0,0 0 0,0-1 0,0 1 0,0 0 0,0-1 0,-1 1 0,1-1 0,-1 1 0,1-1 0,-1 0 0,0 0 0,1 0 0,-1 0 0,0 0 0,0 0 0,-2 1 0,-7 1 0,-1 0 0,1 0 0,-1-1 0,1-1 0,-1 0 0,0 0 0,-20-3 0,-32 3 0,-130 36 0,36-5 0,35-17 0,-116 22 0,130-15 0,-1-5 0,-139 3 0,-226-19 0,219-4 0,184 3 0,-53 1 0,-192-22 0,266 13 0,-378-45 0,-108-17 0,490 62 0,-59-13 0,57 10 0,-2 2 0,-66-3 0,-220 12 0,140 1 0,150-4 0,45 2 0,0 1 0,0 0 0,0-1 0,-1 0 0,1 1 0,0-1 0,0 0 0,1 0 0,-1 0 0,0 0 0,0 0 0,0-1 0,1 1 0,-1 0 0,0-1 0,1 1 0,0-1 0,-1 0 0,0-1 0,2 2 0,0 1 0,-1-1 0,1 0 0,0 1 0,0-1 0,0 1 0,0-1 0,0 0 0,1 1 0,-1-1 0,0 1 0,0-1 0,0 1 0,0-1 0,1 0 0,-1 1 0,0-1 0,0 1 0,1-1 0,-1 1 0,1-1 0,-1 1 0,0-1 0,1 1 0,-1 0 0,1-1 0,-1 1 0,1 0 0,-1-1 0,1 1 0,-1 0 0,1 0 0,-1-1 0,1 1 0,-1 0 0,1 0 0,0 0 0,-1 0 0,1 0 0,0-1 0,29-4 0,-28 5 0,95-7 0,135 8 0,-86 2 0,-134-3 0,1 1 0,-1 0 0,1 1 0,-1 1 0,14 4 0,-22-6 0,-1 0 0,1 1 0,-1-1 0,0 1 0,1 0 0,-1 0 0,0 0 0,0 1 0,4 4 0,-5-6 0,-1 1 0,0-1 0,-1 1 0,1-1 0,0 1 0,0-1 0,-1 1 0,1-1 0,-1 1 0,1 0 0,-1-1 0,0 1 0,1 0 0,-1-1 0,0 1 0,0 0 0,0 0 0,-1-1 0,1 1 0,0 0 0,-1-1 0,0 3 0,0-1 0,-1 1 0,0 0 0,0-1 0,0 0 0,0 1 0,-1-1 0,1 0 0,-1 0 0,0-1 0,0 1 0,0 0 0,-6 3 0,-49 26 0,36-21 0,-3 1 0,-1-1 0,-33 10 0,37-14 0,0 0 0,0 2 0,-36 20 0,57-26 0,8-1 0,9-1 0,99-3 0,64 3 0,-101 13 0,-22-2 0,101 16 0,-24-2 0,-19-5 0,-60-10 0,0-2 0,69 3 0,23 1 0,-2 0 0,-2-8 0,0 7 0,261 56 0,-348-58 0,64 4 0,-6-1 0,-30-4 0,1-4 0,94-7 0,-47-1 0,59 17 0,4 0 0,-28-1 0,-15 0 0,159-14 0,-286-1 0,1-2 0,-1 0 0,0-1 0,-1-2 0,0 0 0,32-16 0,-22 11 0,-22 7 0,-1 1 0,0-2 0,0 1 0,0-1 0,0-1 0,13-12 0,-21 17 0,0 0 0,0 0 0,0 0 0,0 0 0,0-1 0,-1 1 0,0-1 0,1 1 0,-1-1 0,0 1 0,0-1 0,0 0 0,1-5 0,-2 6 0,-1 0 0,1 0 0,0 0 0,0 0 0,-1 0 0,1 0 0,-1 0 0,0 0 0,0 0 0,0 0 0,1 0 0,-2 0 0,1 1 0,0-1 0,0 0 0,-1 1 0,1-1 0,-1 1 0,1-1 0,-1 1 0,-2-2 0,-25-17 0,0 2 0,-2 1 0,0 1 0,-1 2 0,-44-14 0,-39-17 0,64 21 0,0 3 0,-1 3 0,-1 1 0,-72-12 0,84 23 0,-43-9 0,-156-5 0,-1842 21 0,2077-1 0,0 0 0,0 0 0,-1-1 0,2 0 0,-1 0 0,0 0 0,0 0 0,0-1 0,0 0 0,-6-4 0,9 5 0,1 0 0,-1 0 0,1 0 0,0 0 0,-1-1 0,1 1 0,0-1 0,0 1 0,0-1 0,0 1 0,0-1 0,0 1 0,0-1 0,0 0 0,1 1 0,-1-1 0,1 0 0,-1 0 0,1 0 0,0 1 0,0-1 0,-1 0 0,1 0 0,0 0 0,1 0 0,-1 0 0,0 1 0,1-1 0,-1 0 0,1 0 0,1-3 0,-1 3 0,1-1 0,-1 0 0,1 1 0,0 0 0,0-1 0,0 1 0,0 0 0,0 0 0,1 0 0,-1 0 0,0 1 0,1-1 0,0 1 0,-1-1 0,1 1 0,0 0 0,3-1 0,57-15 0,-46 13 0,47-8 0,0 2 0,0 3 0,105 3 0,189-11 0,-43-12 0,-84 16 0,31-4 0,-13-12 0,-163 19 0,169 5 0,-129 5 0,498-2-1365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1:13:45.1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178 375 24575,'1269'0'0,"-1251"-1"0,-1 0 0,1-1 0,0-1 0,-1-1 0,20-6 0,-37 10 0,0 0 0,0 0 0,0 0 0,1 0 0,-1 0 0,0 0 0,0 0 0,0 0 0,0 0 0,0 0 0,1 0 0,-1 0 0,0 0 0,0 0 0,0 0 0,0 0 0,0 0 0,0-1 0,0 1 0,1 0 0,-1 0 0,0 0 0,0 0 0,0 0 0,0 0 0,0 0 0,0-1 0,0 1 0,0 0 0,0 0 0,0 0 0,0 0 0,0 0 0,0-1 0,0 1 0,0 0 0,0 0 0,0 0 0,0 0 0,0 0 0,0-1 0,0 1 0,0 0 0,0 0 0,0 0 0,0 0 0,0 0 0,0-1 0,0 1 0,0 0 0,0 0 0,0 0 0,0 0 0,0 0 0,0 0 0,-1-1 0,-10-6 0,-18-3 0,-55-5 0,-168-9 0,-91 24 0,149 3 0,-318-3 0,487 1 0,0 1 0,0 1 0,-44 11 0,64-11 0,15-2 0,17-3 0,92-29 0,-68 16 0,60-9 0,379-29 0,-57 47 0,-252 8 0,248-2 0,-401-2 0,1 0 0,29-8 0,40-3 0,20-1 0,18 0 0,-129 14 0,263-15 0,-174 7 0,111 5 0,-145 4 0,-31-4 0,-1 0 0,1-2 0,-1-2 0,0 0 0,53-22 0,-48 16 0,1 2 0,0 1 0,52-7 0,229 13 0,-165 7 0,-78-5 0,88 4 0,-154-1 0,0 1 0,0 0 0,0 0 0,0 1 0,-1 0 0,1 0 0,-1 1 0,0 0 0,0 0 0,0 0 0,0 1 0,-1 0 0,0 1 0,0-1 0,0 1 0,-1 0 0,0 1 0,0-1 0,-1 1 0,1 0 0,-1 0 0,-1 1 0,0-1 0,5 15 0,-6-16 0,1-1 0,-1 1 0,1-1 0,0 0 0,8 10 0,-8-11 0,1 2 0,0-1 0,-1 0 0,0 1 0,4 10 0,-4-5 0,0 0 0,1 0 0,0 0 0,1-1 0,0 0 0,1 0 0,0 0 0,11 12 0,-12-15 0,0 1 0,0 0 0,0 1 0,-1-1 0,0 1 0,-1 0 0,5 16 0,-6-15 0,1-1 0,0-1 0,1 1 0,0 0 0,0-1 0,0 0 0,8 10 0,-3-7 0,0 1 0,0 0 0,-2 0 0,1 0 0,7 19 0,-13-25 0,0 0 0,0-1 0,-1 1 0,1 0 0,-1 0 0,0 0 0,-1 0 0,1 0 0,-1 0 0,-1 0 0,1 0 0,-1 0 0,0 0 0,0 0 0,-4 9 0,4-13 0,0 1 0,-1-1 0,0 1 0,1-1 0,-1 0 0,0 0 0,0 0 0,0 0 0,-1 0 0,1 0 0,0 0 0,-1-1 0,1 1 0,-1-1 0,1 0 0,-1 0 0,0 0 0,0 0 0,1 0 0,-1-1 0,0 1 0,-4 0 0,-9 0 0,0 0 0,-30-3 0,27 1 0,-768-5 0,446 8 0,-583-2 0,757 14 0,10-1 0,-941-11 0,556-4 0,573 0 0,0-2 0,-1 0 0,35-11 0,56-8 0,260 16 0,-223 9 0,-56 0 0,111-5 0,-192 1 0,0-2 0,0-1 0,26-10 0,27-6 0,13 7 0,151-6 0,91 20 0,-133 2 0,-177-3 0,1-1 0,34-8 0,-33 5 0,0 1 0,26-1 0,75 7 0,48-4 0,-119-5 0,1-2 0,-1-3 0,73-27 0,-93 30 0,0 0 0,0 2 0,1 1 0,0 2 0,59-1 0,-38 2 0,53-10 0,-38 4 0,-15 0 0,85-25 0,2-1 0,-55 13-1365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7T01:13:54.5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1549 217 24575,'427'-2'0,"466"5"0,-291 23 0,-106-2 0,335-20 0,-444-7 0,2 3 0,-371-3 0,-18 3 0,0 0 0,0 0 0,0-1 0,0 1 0,0 0 0,0 0 0,0-1 0,0 1 0,0 0 0,0 0 0,0-1 0,0 1 0,0 0 0,0 0 0,0-1 0,0 1 0,0 0 0,0 0 0,0 0 0,0-1 0,0 1 0,0 0 0,0 0 0,-1-1 0,1 1 0,0 0 0,0 0 0,0 0 0,0-1 0,-1 1 0,1 0 0,0 0 0,0 0 0,0 0 0,-1 0 0,1-1 0,0 1 0,-35-21 0,19 12 0,-41-31 0,21 14 0,-2 0 0,-67-33 0,59 39 0,-47-14 0,71 28 0,-1 1 0,1 1 0,-1 0 0,-34 0 0,-141 7 0,-229 34 0,84-5 0,65-7 0,166-12 0,-227 16 0,248-29 0,-54 0 0,-172 23 0,-38 5 0,-1-26 0,286-3 0,39 3 0,1 0 0,0 3 0,0 0 0,-34 11 0,29-7 0,-2-2 0,0-2 0,-1-1 0,-43-2 0,-43 5 0,-152 40 0,33-4 0,56-10 0,65-9 0,10-5 0,1 4 0,0 6 0,-108 43 0,217-71 0,-38 18 0,39-18 0,-1 0 0,0 0 0,0 0 0,1 0 0,-1 0 0,1 1 0,-1-1 0,1 0 0,-1 1 0,1-1 0,0 1 0,0 0 0,0-1 0,0 1 0,0 0 0,0 0 0,-1 2 0,2-3 0,1 0 0,-1 0 0,0 0 0,0-1 0,1 1 0,-1 0 0,0 0 0,1 0 0,-1-1 0,1 1 0,-1 0 0,1 0 0,0-1 0,-1 1 0,1-1 0,-1 1 0,1 0 0,0-1 0,0 1 0,-1-1 0,1 1 0,0-1 0,0 0 0,0 1 0,0-1 0,-1 0 0,1 0 0,0 1 0,0-1 0,0 0 0,1 0 0,34 4 0,-33-4 0,127 1 0,-91-3 0,0 2 0,1 1 0,-1 3 0,-1 0 0,42 12 0,-52-7 0,10 3 0,1-2 0,0-1 0,68 6 0,-87-14 0,1 1 0,-1 1 0,0 1 0,1 1 0,19 7 0,-2-1 0,0-1 0,53 5 0,-49-8 0,75 4 0,12 2 0,-67-5 0,0-3 0,116-6 0,-71-1 0,12 0 0,140 5 0,-181 10 0,-54-8 0,39 3 0,408-5 0,-241-5 0,-64 4 0,182-5 0,-206-16 0,-95 11 0,1-3 0,-45 11 0,-1-1 0,1 0 0,0 0 0,-1 0 0,1 0 0,-1 0 0,1-1 0,-1 1 0,0-1 0,0 1 0,0-1 0,1 0 0,-2 0 0,5-4 0,-6 5 0,0 0 0,1 0 0,-1 0 0,0 0 0,0 0 0,0 0 0,1 0 0,-1 0 0,0 0 0,-1 0 0,1 0 0,0 0 0,0 0 0,0 0 0,0 0 0,-1 0 0,1 0 0,-1 0 0,1 0 0,-1 0 0,1 0 0,-1 0 0,1 0 0,-1 1 0,0-1 0,1 0 0,-1 0 0,0 1 0,0-1 0,1 0 0,-1 1 0,0-1 0,0 1 0,0-1 0,0 1 0,0 0 0,0-1 0,0 1 0,0 0 0,-1-1 0,-43-8 0,-295-21 0,-193-24 0,134-20 0,226 40 0,53 14 0,-2 5 0,-178 0 0,124 2 0,20 1 0,-84 12 0,358-20 0,366 11 0,-234 11 0,336-14 0,253-2 0,-711 16 0,134-4 0,-159-10 0,-56 5 0,52 0 0,68 8 0,111-2 0,-148-12 0,35-1 0,407 15 0,-549 1 0,-1 0 0,30 7 0,22 2 0,22 3 0,-65-8 0,1-1 0,34 0 0,-59-5 0,-1 0 0,1 1 0,-1 0 0,1 0 0,-1 1 0,1-1 0,-1 1 0,0 1 0,0-1 0,12 7 0,-16-7 0,0-1 0,0 1 0,0-1 0,0 1 0,-1 0 0,1 0 0,0 0 0,-1 0 0,1 0 0,-1 0 0,0 0 0,0 1 0,0-1 0,0 0 0,0 1 0,0-1 0,-1 1 0,1-1 0,-1 1 0,1-1 0,-1 1 0,0-1 0,0 1 0,0-1 0,-1 1 0,1-1 0,0 1 0,-1-1 0,0 1 0,1-1 0,-3 4 0,1-3 0,0 1 0,0-1 0,0 0 0,-1 1 0,1-1 0,-1 0 0,0-1 0,0 1 0,0 0 0,-1-1 0,1 0 0,0 0 0,-1 0 0,1 0 0,-1 0 0,0-1 0,0 1 0,0-1 0,-4 1 0,-9 2 0,0-1 0,-35 2 0,-82 8 0,-62 1 0,-566-15 0,725-1 0,-55-9 0,-28-3 0,-386 13 0,267 3 0,278 0 0,0 2 0,0 1 0,52 15 0,-57-9 0,0 1 0,44 23 0,-52-22 0,-1-1 0,2-1 0,0-2 0,0-1 0,33 6 0,-2-9 0,-42-5 0,0 1 0,0 1 0,0 0 0,25 8 0,-7 0 0,0-1 0,1-2 0,0-2 0,45 3 0,146-9 0,-92-2 0,238 3-1365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95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customXml" Target="../ink/ink1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993" y="937141"/>
            <a:ext cx="7730014" cy="189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Scene Classification Using Convolutional Neural Networks and Transfer Learning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6993" y="3100745"/>
            <a:ext cx="5855494" cy="380762"/>
          </a:xfrm>
          <a:prstGeom prst="roundRect">
            <a:avLst>
              <a:gd name="adj" fmla="val 17827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35819" y="3168967"/>
            <a:ext cx="559784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6CS012 - ARTIFICIAL INTELLIGENCE AND MACHINE LEARNING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06993" y="3683913"/>
            <a:ext cx="7730014" cy="1974890"/>
          </a:xfrm>
          <a:prstGeom prst="roundRect">
            <a:avLst>
              <a:gd name="adj" fmla="val 429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6543" y="389346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 Members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16543" y="4316968"/>
            <a:ext cx="73109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Rajiv Khattri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6543" y="4730353"/>
            <a:ext cx="73109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Binaya Bohara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6543" y="5143738"/>
            <a:ext cx="73109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Unik Ghalan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06993" y="5838706"/>
            <a:ext cx="7730014" cy="1453634"/>
          </a:xfrm>
          <a:prstGeom prst="roundRect">
            <a:avLst>
              <a:gd name="adj" fmla="val 58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6543" y="604825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Assessment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16543" y="6471761"/>
            <a:ext cx="73109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Portfolio - Proposal Defense(Task 2)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Year 2025-26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376" y="586026"/>
            <a:ext cx="770524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Question and Motivation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027628" y="2359581"/>
            <a:ext cx="7396996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"Can a Convolutional Neural Network effectively classify natural scenes into 6 categories, and does transfer learning outperform a model trained from scratch?"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9376" y="2150031"/>
            <a:ext cx="22860" cy="1359575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38877"/>
            <a:ext cx="8428673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- Intel Scene Classification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12351" y="1459825"/>
            <a:ext cx="4914305" cy="340519"/>
          </a:xfrm>
          <a:prstGeom prst="roundRect">
            <a:avLst>
              <a:gd name="adj" fmla="val 1888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127" y="1553528"/>
            <a:ext cx="152995" cy="1529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6561" y="1517213"/>
            <a:ext cx="4455319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INTEL IMAGE CLASSIFICATION DATASET (KAGGLE)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2351" y="2077522"/>
            <a:ext cx="6501884" cy="631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17,034</a:t>
            </a:r>
            <a:endParaRPr lang="en-US" sz="4950" dirty="0"/>
          </a:p>
        </p:txBody>
      </p:sp>
      <p:sp>
        <p:nvSpPr>
          <p:cNvPr id="7" name="Text 4"/>
          <p:cNvSpPr/>
          <p:nvPr/>
        </p:nvSpPr>
        <p:spPr>
          <a:xfrm>
            <a:off x="2767132" y="292572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Images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12351" y="3321487"/>
            <a:ext cx="6501884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outdoor scenes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16046" y="2077522"/>
            <a:ext cx="6501884" cy="631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4950" dirty="0"/>
          </a:p>
        </p:txBody>
      </p:sp>
      <p:sp>
        <p:nvSpPr>
          <p:cNvPr id="10" name="Text 7"/>
          <p:cNvSpPr/>
          <p:nvPr/>
        </p:nvSpPr>
        <p:spPr>
          <a:xfrm>
            <a:off x="9470827" y="292572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Scene Classes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416046" y="3321487"/>
            <a:ext cx="6501884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Pre-labeled, balanced split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2351" y="3785235"/>
            <a:ext cx="13205579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RGB format · ~150×150 px · Pre-defined train/test split provided with the dataset.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2351" y="4192548"/>
            <a:ext cx="13205579" cy="3498056"/>
          </a:xfrm>
          <a:prstGeom prst="roundRect">
            <a:avLst>
              <a:gd name="adj" fmla="val 22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1423" y="4304586"/>
            <a:ext cx="488965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91369" y="4304586"/>
            <a:ext cx="356675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148411" y="4304586"/>
            <a:ext cx="357056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1423" y="4803219"/>
            <a:ext cx="488965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91369" y="4803219"/>
            <a:ext cx="356675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2,191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148411" y="4803219"/>
            <a:ext cx="357056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437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1423" y="5301853"/>
            <a:ext cx="488965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Forest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191369" y="5301853"/>
            <a:ext cx="356675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2,271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148411" y="5301853"/>
            <a:ext cx="357056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11423" y="5800487"/>
            <a:ext cx="488965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Glacier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191369" y="5800487"/>
            <a:ext cx="356675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2,404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0148411" y="5800487"/>
            <a:ext cx="357056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553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11423" y="6299121"/>
            <a:ext cx="488965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Mountain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191369" y="6299121"/>
            <a:ext cx="356675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2,512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148411" y="6299121"/>
            <a:ext cx="357056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11423" y="6797754"/>
            <a:ext cx="488965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191369" y="6797754"/>
            <a:ext cx="356675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2,274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0148411" y="6797754"/>
            <a:ext cx="357056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510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911423" y="7296388"/>
            <a:ext cx="488965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191369" y="7296388"/>
            <a:ext cx="356675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2,382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10148411" y="7296388"/>
            <a:ext cx="3570565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501</a:t>
            </a:r>
            <a:endParaRPr lang="en-US" sz="15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E7D5309-464B-EBA9-5523-01C3E15CA78A}"/>
                  </a:ext>
                </a:extLst>
              </p14:cNvPr>
              <p14:cNvContentPartPr/>
              <p14:nvPr/>
            </p14:nvContentPartPr>
            <p14:xfrm>
              <a:off x="12784935" y="7761945"/>
              <a:ext cx="1713960" cy="347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E7D5309-464B-EBA9-5523-01C3E15CA7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21935" y="7699305"/>
                <a:ext cx="1839600" cy="47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52939"/>
            <a:ext cx="6772751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Preliminary Data Analysis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1869519"/>
            <a:ext cx="6977063" cy="3869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62713" y="2225754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2.19k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548495" y="2801064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2.27k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919328" y="3376374"/>
            <a:ext cx="208836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2.4k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7144237" y="3951684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2.51k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6555819" y="4526994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2.27k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817577" y="5102304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2.38k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8268772" y="184368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8268772" y="2413278"/>
            <a:ext cx="5612606" cy="1506498"/>
          </a:xfrm>
          <a:prstGeom prst="roundRect">
            <a:avLst>
              <a:gd name="adj" fmla="val 971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238292" y="2413278"/>
            <a:ext cx="121920" cy="1506498"/>
          </a:xfrm>
          <a:prstGeom prst="roundRect">
            <a:avLst>
              <a:gd name="adj" fmla="val 7447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06790" y="2659856"/>
            <a:ext cx="5028009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Near-balanced classes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Mountain (2,512) is only ~15% larger than Buildings (2,191). No class weighting required.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268772" y="4125754"/>
            <a:ext cx="5612606" cy="1506498"/>
          </a:xfrm>
          <a:prstGeom prst="roundRect">
            <a:avLst>
              <a:gd name="adj" fmla="val 971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238292" y="4125754"/>
            <a:ext cx="121920" cy="1506498"/>
          </a:xfrm>
          <a:prstGeom prst="roundRect">
            <a:avLst>
              <a:gd name="adj" fmla="val 7447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06790" y="4372332"/>
            <a:ext cx="5028009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Inter-class similarity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Glacier vs. Mountain and Sea vs. Glacier share color palettes; expect confusion in these pairs.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268772" y="5838230"/>
            <a:ext cx="5612606" cy="1506498"/>
          </a:xfrm>
          <a:prstGeom prst="roundRect">
            <a:avLst>
              <a:gd name="adj" fmla="val 971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238292" y="5838230"/>
            <a:ext cx="121920" cy="1506498"/>
          </a:xfrm>
          <a:prstGeom prst="roundRect">
            <a:avLst>
              <a:gd name="adj" fmla="val 7447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06790" y="6084808"/>
            <a:ext cx="5028009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A small number of corrupt files(total 42 and 7 in </a:t>
            </a:r>
            <a:r>
              <a:rPr lang="en-US" sz="17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class) 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(~10 bytes) exist and will be filtered during loading.</a:t>
            </a:r>
            <a:endParaRPr lang="en-US" sz="17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7B3B2AB-152F-265D-FBAE-1FA822A00163}"/>
                  </a:ext>
                </a:extLst>
              </p14:cNvPr>
              <p14:cNvContentPartPr/>
              <p14:nvPr/>
            </p14:nvContentPartPr>
            <p14:xfrm>
              <a:off x="12827055" y="7791105"/>
              <a:ext cx="1671120" cy="362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7B3B2AB-152F-265D-FBAE-1FA822A001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64055" y="7728465"/>
                <a:ext cx="1796760" cy="48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33162"/>
            <a:ext cx="5023842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Planned Methodology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592" y="1431250"/>
            <a:ext cx="11640979" cy="42139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49219" y="4616597"/>
            <a:ext cx="2916126" cy="364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Transfer Learning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349219" y="3346462"/>
            <a:ext cx="2916126" cy="364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CNN from Scratch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2349219" y="2063367"/>
            <a:ext cx="2916126" cy="364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834628" y="5820132"/>
            <a:ext cx="4216598" cy="1876187"/>
          </a:xfrm>
          <a:prstGeom prst="roundRect">
            <a:avLst>
              <a:gd name="adj" fmla="val 4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30010" y="6015514"/>
            <a:ext cx="296370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1 - Data Preparation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30010" y="6402229"/>
            <a:ext cx="3825835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Rescale to [0,1], resize to 150×150 (Part A) and 224×224 (Part B). Augment training set: flip, ±20° rotation, zoom, shifts. 20% validation split.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06722" y="5820132"/>
            <a:ext cx="4216718" cy="1876187"/>
          </a:xfrm>
          <a:prstGeom prst="roundRect">
            <a:avLst>
              <a:gd name="adj" fmla="val 4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02104" y="6015514"/>
            <a:ext cx="316134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2 - CNN from Scratch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02104" y="6402229"/>
            <a:ext cx="3825954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Baseline: 3 Conv+Pool blocks + Dense layers + Softmax. Deeper variant adds BatchNorm and Dropout. Compare SGD vs. Adam; ablation on regularization.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578935" y="5820132"/>
            <a:ext cx="4216718" cy="1876187"/>
          </a:xfrm>
          <a:prstGeom prst="roundRect">
            <a:avLst>
              <a:gd name="adj" fmla="val 4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774317" y="6015514"/>
            <a:ext cx="313420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3 - Transfer Learning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774317" y="6402229"/>
            <a:ext cx="3825954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VGG16 (ImageNet, include_top=False, 224×224). Add Dense(256) + Dropout(0.5) + Dense(6, Softmax). Evaluate against Part A.</a:t>
            </a:r>
            <a:endParaRPr lang="en-US" sz="14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625C60B-DB37-9622-3268-15CC7D8767F9}"/>
                  </a:ext>
                </a:extLst>
              </p14:cNvPr>
              <p14:cNvContentPartPr/>
              <p14:nvPr/>
            </p14:nvContentPartPr>
            <p14:xfrm>
              <a:off x="12851895" y="7809105"/>
              <a:ext cx="1618560" cy="268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625C60B-DB37-9622-3268-15CC7D8767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8895" y="7746465"/>
                <a:ext cx="1744200" cy="39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744" y="622340"/>
            <a:ext cx="7829312" cy="117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Observations and Anticipated Challenges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143744" y="2185035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Observations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4110" y="2662773"/>
            <a:ext cx="281702" cy="2817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54058" y="2653427"/>
            <a:ext cx="307526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is well-structured with clearly labeled class folders for both train and test splits.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4110" y="3797915"/>
            <a:ext cx="281702" cy="2817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54058" y="3788569"/>
            <a:ext cx="307526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class balance makes standard accuracy metric appropriate without modification.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4110" y="4933057"/>
            <a:ext cx="281702" cy="28170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54058" y="4923711"/>
            <a:ext cx="307526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150×150 resolution is suitable for scratch-trained CNNs without excessive compute overhead.</a:t>
            </a:r>
            <a:endParaRPr lang="en-US" sz="1450" dirty="0"/>
          </a:p>
        </p:txBody>
      </p:sp>
      <p:sp>
        <p:nvSpPr>
          <p:cNvPr id="11" name="Text 5"/>
          <p:cNvSpPr/>
          <p:nvPr/>
        </p:nvSpPr>
        <p:spPr>
          <a:xfrm>
            <a:off x="10295096" y="2185035"/>
            <a:ext cx="267450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Anticipated Challenges</a:t>
            </a:r>
            <a:endParaRPr lang="en-US" sz="1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5462" y="2662773"/>
            <a:ext cx="281702" cy="28170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05411" y="2653427"/>
            <a:ext cx="307526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Inter-class confusion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Glacier, Mountain, and Sea share similar textures and color palettes.</a:t>
            </a:r>
            <a:endParaRPr lang="en-US" sz="14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5462" y="3797915"/>
            <a:ext cx="281702" cy="28170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05411" y="3788569"/>
            <a:ext cx="3075265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Overfitting risk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Deeper CNNs have many parameters; mitigated with Dropout and BatchNorm.</a:t>
            </a:r>
            <a:endParaRPr lang="en-US" sz="14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5462" y="4933057"/>
            <a:ext cx="281702" cy="28170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905411" y="4923711"/>
            <a:ext cx="3075265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constraints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GPU required; Google Colab (GPU) will be used throughout.</a:t>
            </a:r>
            <a:endParaRPr lang="en-US" sz="14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5462" y="6342876"/>
            <a:ext cx="281702" cy="28170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905411" y="6333530"/>
            <a:ext cx="3075265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size mismatch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VGG16 requires 224×224; images must be resized from native 150×150 for Part B.</a:t>
            </a:r>
            <a:endParaRPr lang="en-US" sz="14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AAB6772-846F-AB9B-2EF1-14D95285BD1A}"/>
                  </a:ext>
                </a:extLst>
              </p14:cNvPr>
              <p14:cNvContentPartPr/>
              <p14:nvPr/>
            </p14:nvContentPartPr>
            <p14:xfrm>
              <a:off x="12424935" y="7808745"/>
              <a:ext cx="2112120" cy="298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AAB6772-846F-AB9B-2EF1-14D95285BD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361935" y="7745745"/>
                <a:ext cx="2237760" cy="42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463</Words>
  <Application>Microsoft Office PowerPoint</Application>
  <PresentationFormat>Custom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Inter Bold</vt:lpstr>
      <vt:lpstr>Arial</vt:lpstr>
      <vt:lpstr>-apple-system, BlinkMacSystemFont, Segoe UI, Roboto, Helvetica Neue, Arial, sans-serif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BINAYA BOHARA</cp:lastModifiedBy>
  <cp:revision>4</cp:revision>
  <dcterms:created xsi:type="dcterms:W3CDTF">2026-04-17T01:08:00Z</dcterms:created>
  <dcterms:modified xsi:type="dcterms:W3CDTF">2026-04-17T04:31:27Z</dcterms:modified>
</cp:coreProperties>
</file>